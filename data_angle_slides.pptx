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3149"/>
                </a:solidFill>
              </a:defRPr>
            </a:pPr>
            <a:r>
              <a:t>From 2D Demo to Data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</a:defRPr>
            </a:pPr>
            <a:r>
              <a:t>Data task: make dissociation measurable, not collect a generic external dataset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2377440" cy="2743200"/>
          </a:xfrm>
          <a:prstGeom prst="roundRect">
            <a:avLst/>
          </a:prstGeom>
          <a:solidFill>
            <a:srgbClr val="ECF8F2"/>
          </a:solidFill>
          <a:ln w="12700">
            <a:solidFill>
              <a:srgbClr val="A5D6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36576"/>
          <a:lstStyle/>
          <a:p>
            <a:pPr algn="ctr">
              <a:defRPr sz="1500" b="1">
                <a:solidFill>
                  <a:srgbClr val="2E8B57"/>
                </a:solidFill>
              </a:defRPr>
            </a:pPr>
            <a:r>
              <a:t>2D Task</a:t>
            </a:r>
            <a:br/>
            <a:r>
              <a:t>state + stimulus</a:t>
            </a:r>
            <a:br/>
            <a:r>
              <a:t>base / resource / obstacles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86200" y="1234440"/>
            <a:ext cx="1645920" cy="43891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1C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36576"/>
          <a:lstStyle/>
          <a:p>
            <a:pPr algn="ctr">
              <a:defRPr sz="1200" b="1">
                <a:solidFill>
                  <a:srgbClr val="2C7BB6"/>
                </a:solidFill>
              </a:defRPr>
            </a:pPr>
            <a:r>
              <a:t>Perception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86200" y="1965960"/>
            <a:ext cx="1645920" cy="43891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1C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36576"/>
          <a:lstStyle/>
          <a:p>
            <a:pPr algn="ctr">
              <a:defRPr sz="1200" b="1">
                <a:solidFill>
                  <a:srgbClr val="2C7BB6"/>
                </a:solidFill>
              </a:defRPr>
            </a:pPr>
            <a:r>
              <a:t>Motor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86200" y="2697480"/>
            <a:ext cx="1645920" cy="43891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1C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36576"/>
          <a:lstStyle/>
          <a:p>
            <a:pPr algn="ctr">
              <a:defRPr sz="1200" b="1">
                <a:solidFill>
                  <a:srgbClr val="2C7BB6"/>
                </a:solidFill>
              </a:defRPr>
            </a:pPr>
            <a:r>
              <a:t>Emotion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6200" y="3429000"/>
            <a:ext cx="1645920" cy="43891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1C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36576"/>
          <a:lstStyle/>
          <a:p>
            <a:pPr algn="ctr">
              <a:defRPr sz="1200" b="1">
                <a:solidFill>
                  <a:srgbClr val="2C7BB6"/>
                </a:solidFill>
              </a:defRPr>
            </a:pPr>
            <a:r>
              <a:t>Language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74519"/>
            <a:ext cx="2057400" cy="1188720"/>
          </a:xfrm>
          <a:prstGeom prst="roundRect">
            <a:avLst/>
          </a:prstGeom>
          <a:solidFill>
            <a:srgbClr val="FFF8E8"/>
          </a:solidFill>
          <a:ln w="12700">
            <a:solidFill>
              <a:srgbClr val="E8B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36576"/>
          <a:lstStyle/>
          <a:p>
            <a:pPr algn="ctr">
              <a:defRPr sz="1500" b="1">
                <a:solidFill>
                  <a:srgbClr val="D18F24"/>
                </a:solidFill>
              </a:defRPr>
            </a:pPr>
            <a:r>
              <a:t>Workspace</a:t>
            </a:r>
            <a:br/>
            <a:r>
              <a:t>competition + winner</a:t>
            </a:r>
            <a:br/>
            <a:r>
              <a:t>broadcast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1874519"/>
            <a:ext cx="2011680" cy="11887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36576"/>
          <a:lstStyle/>
          <a:p>
            <a:pPr algn="ctr">
              <a:defRPr sz="1500" b="1">
                <a:solidFill>
                  <a:srgbClr val="203149"/>
                </a:solidFill>
              </a:defRPr>
            </a:pPr>
            <a:r>
              <a:t>Logged Trace</a:t>
            </a:r>
            <a:br/>
            <a:r>
              <a:t>per timestamp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3063240" y="2697480"/>
            <a:ext cx="822960" cy="91440"/>
          </a:xfrm>
          <a:prstGeom prst="line">
            <a:avLst/>
          </a:prstGeom>
          <a:ln w="1778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532120" y="2468880"/>
            <a:ext cx="868680" cy="228600"/>
          </a:xfrm>
          <a:prstGeom prst="line">
            <a:avLst/>
          </a:prstGeom>
          <a:ln w="1778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458200" y="2468880"/>
            <a:ext cx="868680" cy="0"/>
          </a:xfrm>
          <a:prstGeom prst="line">
            <a:avLst/>
          </a:prstGeom>
          <a:ln w="1778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406640" y="3063240"/>
            <a:ext cx="0" cy="1234440"/>
          </a:xfrm>
          <a:prstGeom prst="line">
            <a:avLst/>
          </a:prstGeom>
          <a:ln w="1778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4663440" y="3977639"/>
            <a:ext cx="2743200" cy="320041"/>
          </a:xfrm>
          <a:prstGeom prst="line">
            <a:avLst/>
          </a:prstGeom>
          <a:ln w="1778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85800" y="4709160"/>
            <a:ext cx="1874519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36576"/>
          <a:lstStyle/>
          <a:p>
            <a:pPr algn="ctr">
              <a:defRPr sz="1050" b="0">
                <a:solidFill>
                  <a:srgbClr val="1E242C"/>
                </a:solidFill>
              </a:defRPr>
            </a:pPr>
            <a:r>
              <a:t>state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4709160"/>
            <a:ext cx="1874519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36576"/>
          <a:lstStyle/>
          <a:p>
            <a:pPr algn="ctr">
              <a:defRPr sz="1050" b="0">
                <a:solidFill>
                  <a:srgbClr val="1E242C"/>
                </a:solidFill>
              </a:defRPr>
            </a:pPr>
            <a:r>
              <a:t>proposals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66360" y="4709160"/>
            <a:ext cx="1874519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36576"/>
          <a:lstStyle/>
          <a:p>
            <a:pPr algn="ctr">
              <a:defRPr sz="1050" b="0">
                <a:solidFill>
                  <a:srgbClr val="1E242C"/>
                </a:solidFill>
              </a:defRPr>
            </a:pPr>
            <a:r>
              <a:t>scores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4709160"/>
            <a:ext cx="1874519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36576"/>
          <a:lstStyle/>
          <a:p>
            <a:pPr algn="ctr">
              <a:defRPr sz="1050" b="0">
                <a:solidFill>
                  <a:srgbClr val="1E242C"/>
                </a:solidFill>
              </a:defRPr>
            </a:pPr>
            <a:r>
              <a:t>winner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46920" y="4709160"/>
            <a:ext cx="1874519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36576"/>
          <a:lstStyle/>
          <a:p>
            <a:pPr algn="ctr">
              <a:defRPr sz="1050" b="0">
                <a:solidFill>
                  <a:srgbClr val="1E242C"/>
                </a:solidFill>
              </a:defRPr>
            </a:pPr>
            <a:r>
              <a:t>broadcast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212080"/>
            <a:ext cx="1874519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36576"/>
          <a:lstStyle/>
          <a:p>
            <a:pPr algn="ctr">
              <a:defRPr sz="1050" b="0">
                <a:solidFill>
                  <a:srgbClr val="1E242C"/>
                </a:solidFill>
              </a:defRPr>
            </a:pPr>
            <a:r>
              <a:t>action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26080" y="5212080"/>
            <a:ext cx="1874519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36576"/>
          <a:lstStyle/>
          <a:p>
            <a:pPr algn="ctr">
              <a:defRPr sz="1050" b="0">
                <a:solidFill>
                  <a:srgbClr val="1E242C"/>
                </a:solidFill>
              </a:defRPr>
            </a:pPr>
            <a:r>
              <a:t>feedback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66360" y="5212080"/>
            <a:ext cx="1874519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36576"/>
          <a:lstStyle/>
          <a:p>
            <a:pPr algn="ctr">
              <a:defRPr sz="1050" b="0">
                <a:solidFill>
                  <a:srgbClr val="1E242C"/>
                </a:solidFill>
              </a:defRPr>
            </a:pPr>
            <a:r>
              <a:t>report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5212080"/>
            <a:ext cx="1874519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36576"/>
          <a:lstStyle/>
          <a:p>
            <a:pPr algn="ctr">
              <a:defRPr sz="1050" b="0">
                <a:solidFill>
                  <a:srgbClr val="1E242C"/>
                </a:solidFill>
              </a:defRPr>
            </a:pPr>
            <a:r>
              <a:t>confidence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46920" y="5212080"/>
            <a:ext cx="1874519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36576"/>
          <a:lstStyle/>
          <a:p>
            <a:pPr algn="ctr">
              <a:defRPr sz="1050" b="0">
                <a:solidFill>
                  <a:srgbClr val="1E242C"/>
                </a:solidFill>
              </a:defRPr>
            </a:pPr>
            <a:r>
              <a:t>intervention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28C9B"/>
                </a:solidFill>
              </a:defRPr>
            </a:pPr>
            <a:r>
              <a:t>Data-first framing for multi-agent global workspace experiments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3149"/>
                </a:solidFill>
              </a:defRPr>
            </a:pPr>
            <a:r>
              <a:t>Data Needed by Experimental Stage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</a:defRPr>
            </a:pPr>
            <a:r>
              <a:t>Each dataset has a specific role in producing a measurable marker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34440"/>
          <a:ext cx="1056132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154680"/>
                <a:gridCol w="2468880"/>
                <a:gridCol w="2926080"/>
              </a:tblGrid>
              <a:tr h="685800">
                <a:tc>
                  <a:txBody>
                    <a:bodyPr/>
                    <a:lstStyle/>
                    <a:p>
                      <a:pPr algn="l">
                        <a:defRPr sz="1070" b="1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 marL="45720" marR="45720" marT="27432" marB="27432" anchor="ctr">
                    <a:solidFill>
                      <a:srgbClr val="20314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70" b="1">
                          <a:solidFill>
                            <a:srgbClr val="FFFFFF"/>
                          </a:solidFill>
                        </a:defRPr>
                      </a:pPr>
                      <a:r>
                        <a:t>What it contains</a:t>
                      </a:r>
                    </a:p>
                  </a:txBody>
                  <a:tcPr marL="45720" marR="45720" marT="27432" marB="27432" anchor="ctr">
                    <a:solidFill>
                      <a:srgbClr val="20314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70" b="1">
                          <a:solidFill>
                            <a:srgbClr val="FFFFFF"/>
                          </a:solidFill>
                        </a:defRPr>
                      </a:pPr>
                      <a:r>
                        <a:t>Used in stage</a:t>
                      </a:r>
                    </a:p>
                  </a:txBody>
                  <a:tcPr marL="45720" marR="45720" marT="27432" marB="27432" anchor="ctr">
                    <a:solidFill>
                      <a:srgbClr val="20314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70" b="1">
                          <a:solidFill>
                            <a:srgbClr val="FFFFFF"/>
                          </a:solidFill>
                        </a:defRPr>
                      </a:pPr>
                      <a:r>
                        <a:t>Marker measured</a:t>
                      </a:r>
                    </a:p>
                  </a:txBody>
                  <a:tcPr marL="45720" marR="45720" marT="27432" marB="27432" anchor="ctr">
                    <a:solidFill>
                      <a:srgbClr val="20314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E242C"/>
                          </a:solidFill>
                        </a:defRPr>
                      </a:pPr>
                      <a:r>
                        <a:t>Main trajectory logs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E242C"/>
                          </a:solidFill>
                        </a:defRPr>
                      </a:pPr>
                      <a:r>
                        <a:t>state, action, reward, feedback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E242C"/>
                          </a:solidFill>
                        </a:defRPr>
                      </a:pPr>
                      <a:r>
                        <a:t>baseline runs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E242C"/>
                          </a:solidFill>
                        </a:defRPr>
                      </a:pPr>
                      <a:r>
                        <a:t>task success / collect-return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E242C"/>
                          </a:solidFill>
                        </a:defRPr>
                      </a:pPr>
                      <a:r>
                        <a:t>Module competition logs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E242C"/>
                          </a:solidFill>
                        </a:defRPr>
                      </a:pPr>
                      <a:r>
                        <a:t>module output, score, winner, broadcast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E242C"/>
                          </a:solidFill>
                        </a:defRPr>
                      </a:pPr>
                      <a:r>
                        <a:t>every workspace step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E242C"/>
                          </a:solidFill>
                        </a:defRPr>
                      </a:pPr>
                      <a:r>
                        <a:t>bottleneck + broadcast dynamics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E242C"/>
                          </a:solidFill>
                        </a:defRPr>
                      </a:pPr>
                      <a:r>
                        <a:t>Report + confidence logs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E242C"/>
                          </a:solidFill>
                        </a:defRPr>
                      </a:pPr>
                      <a:r>
                        <a:t>verbal report, confidence, ground truth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E242C"/>
                          </a:solidFill>
                        </a:defRPr>
                      </a:pPr>
                      <a:r>
                        <a:t>query/report steps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E242C"/>
                          </a:solidFill>
                        </a:defRPr>
                      </a:pPr>
                      <a:r>
                        <a:t>Type-1 vs Type-2 dissociation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E242C"/>
                          </a:solidFill>
                        </a:defRPr>
                      </a:pPr>
                      <a:r>
                        <a:t>Intervention labels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E242C"/>
                          </a:solidFill>
                        </a:defRPr>
                      </a:pPr>
                      <a:r>
                        <a:t>mask, delay, mismatch, lesion config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E242C"/>
                          </a:solidFill>
                        </a:defRPr>
                      </a:pPr>
                      <a:r>
                        <a:t>ablation runs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E242C"/>
                          </a:solidFill>
                        </a:defRPr>
                      </a:pPr>
                      <a:r>
                        <a:t>causal dependence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E242C"/>
                          </a:solidFill>
                        </a:defRPr>
                      </a:pPr>
                      <a:r>
                        <a:t>Explanation labels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E242C"/>
                          </a:solidFill>
                        </a:defRPr>
                      </a:pPr>
                      <a:r>
                        <a:t>true cause, generated explanation, consistency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E242C"/>
                          </a:solidFill>
                        </a:defRPr>
                      </a:pPr>
                      <a:r>
                        <a:t>post-hoc explanation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E242C"/>
                          </a:solidFill>
                        </a:defRPr>
                      </a:pPr>
                      <a:r>
                        <a:t>confabulation mismatch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E242C"/>
                          </a:solidFill>
                        </a:defRPr>
                      </a:pPr>
                      <a:r>
                        <a:t>Optional multimodal clips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E242C"/>
                          </a:solidFill>
                        </a:defRPr>
                      </a:pPr>
                      <a:r>
                        <a:t>audio, video, transcript, alignment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E242C"/>
                          </a:solidFill>
                        </a:defRPr>
                      </a:pPr>
                      <a:r>
                        <a:t>later extension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E242C"/>
                          </a:solidFill>
                        </a:defRPr>
                      </a:pPr>
                      <a:r>
                        <a:t>cross-modal integration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28C9B"/>
                </a:solidFill>
              </a:defRPr>
            </a:pPr>
            <a:r>
              <a:t>First four rows are essential; external multimodal clips are for later extensions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3149"/>
                </a:solidFill>
              </a:defRPr>
            </a:pPr>
            <a:r>
              <a:t>Candidate Sources: Ready vs Optional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5039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</a:defRPr>
            </a:pPr>
            <a:r>
              <a:t>Recommendation: start with generated logs, use public sources only when they add a clear evaluation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097280"/>
          <a:ext cx="964692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880360"/>
                <a:gridCol w="3657600"/>
                <a:gridCol w="914400"/>
              </a:tblGrid>
              <a:tr h="634365">
                <a:tc>
                  <a:txBody>
                    <a:bodyPr/>
                    <a:lstStyle/>
                    <a:p>
                      <a:pPr algn="l">
                        <a:defRPr sz="1070" b="1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 marL="45720" marR="45720" marT="27432" marB="27432" anchor="ctr">
                    <a:solidFill>
                      <a:srgbClr val="20314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70" b="1">
                          <a:solidFill>
                            <a:srgbClr val="FFFFFF"/>
                          </a:solidFill>
                        </a:defRPr>
                      </a:pPr>
                      <a:r>
                        <a:t>Download ready / free?</a:t>
                      </a:r>
                    </a:p>
                  </a:txBody>
                  <a:tcPr marL="45720" marR="45720" marT="27432" marB="27432" anchor="ctr">
                    <a:solidFill>
                      <a:srgbClr val="20314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70" b="1">
                          <a:solidFill>
                            <a:srgbClr val="FFFFFF"/>
                          </a:solidFill>
                        </a:defRPr>
                      </a:pPr>
                      <a:r>
                        <a:t>How we use it</a:t>
                      </a:r>
                    </a:p>
                  </a:txBody>
                  <a:tcPr marL="45720" marR="45720" marT="27432" marB="27432" anchor="ctr">
                    <a:solidFill>
                      <a:srgbClr val="20314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70" b="1">
                          <a:solidFill>
                            <a:srgbClr val="FFFFFF"/>
                          </a:solidFill>
                        </a:defRPr>
                      </a:pPr>
                      <a:r>
                        <a:t>Priority</a:t>
                      </a:r>
                    </a:p>
                  </a:txBody>
                  <a:tcPr marL="45720" marR="45720" marT="27432" marB="27432" anchor="ctr">
                    <a:solidFill>
                      <a:srgbClr val="203149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E242C"/>
                          </a:solidFill>
                        </a:defRPr>
                      </a:pPr>
                      <a:r>
                        <a:t>Our workspace logs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E242C"/>
                          </a:solidFill>
                        </a:defRPr>
                      </a:pPr>
                      <a:r>
                        <a:t>Yes: created by us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E242C"/>
                          </a:solidFill>
                        </a:defRPr>
                      </a:pPr>
                      <a:r>
                        <a:t>main experimental dataset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E242C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E242C"/>
                          </a:solidFill>
                        </a:defRPr>
                      </a:pPr>
                      <a:r>
                        <a:t>Minari MiniGrid/BabyAI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E242C"/>
                          </a:solidFill>
                        </a:defRPr>
                      </a:pPr>
                      <a:r>
                        <a:t>Yes: public datasets/CLI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E242C"/>
                          </a:solidFill>
                        </a:defRPr>
                      </a:pPr>
                      <a:r>
                        <a:t>offline baseline + trajectory format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E242C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E242C"/>
                          </a:solidFill>
                        </a:defRPr>
                      </a:pPr>
                      <a:r>
                        <a:t>MiniGrid / BabyAI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E242C"/>
                          </a:solidFill>
                        </a:defRPr>
                      </a:pPr>
                      <a:r>
                        <a:t>Code ready, not fixed dataset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E242C"/>
                          </a:solidFill>
                        </a:defRPr>
                      </a:pPr>
                      <a:r>
                        <a:t>schema and task reference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E242C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E242C"/>
                          </a:solidFill>
                        </a:defRPr>
                      </a:pPr>
                      <a:r>
                        <a:t>GRID corpus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E242C"/>
                          </a:solidFill>
                        </a:defRPr>
                      </a:pPr>
                      <a:r>
                        <a:t>Yes: Zenodo, CC-BY 4.0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E242C"/>
                          </a:solidFill>
                        </a:defRPr>
                      </a:pPr>
                      <a:r>
                        <a:t>clean audio-video-transcript alignment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E242C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E242C"/>
                          </a:solidFill>
                        </a:defRPr>
                      </a:pPr>
                      <a:r>
                        <a:t>AVSpeech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E242C"/>
                          </a:solidFill>
                        </a:defRPr>
                      </a:pPr>
                      <a:r>
                        <a:t>CSV ready; video availability varies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E242C"/>
                          </a:solidFill>
                        </a:defRPr>
                      </a:pPr>
                      <a:r>
                        <a:t>real-world audiovisual extension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E242C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E242C"/>
                          </a:solidFill>
                        </a:defRPr>
                      </a:pPr>
                      <a:r>
                        <a:t>LRW / LRS3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E242C"/>
                          </a:solidFill>
                        </a:defRPr>
                      </a:pPr>
                      <a:r>
                        <a:t>Research use; access less immediate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E242C"/>
                          </a:solidFill>
                        </a:defRPr>
                      </a:pPr>
                      <a:r>
                        <a:t>lip-reading / large AV extension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E242C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 marL="45720" marR="45720" marT="27432" marB="27432" anchor="ctr">
                    <a:solidFill>
                      <a:srgbClr val="F5F7FA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E242C"/>
                          </a:solidFill>
                        </a:defRPr>
                      </a:pPr>
                      <a:r>
                        <a:t>SoundSpaces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E242C"/>
                          </a:solidFill>
                        </a:defRPr>
                      </a:pPr>
                      <a:r>
                        <a:t>Platform public; scene assets have terms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E242C"/>
                          </a:solidFill>
                        </a:defRPr>
                      </a:pPr>
                      <a:r>
                        <a:t>future 3D audiovisual embodiment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9" b="0">
                          <a:solidFill>
                            <a:srgbClr val="1E242C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784080" y="6355080"/>
            <a:ext cx="502920" cy="228600"/>
          </a:xfrm>
          <a:prstGeom prst="roundRect">
            <a:avLst/>
          </a:prstGeom>
          <a:solidFill>
            <a:srgbClr val="E6F7ED"/>
          </a:solidFill>
          <a:ln w="12700">
            <a:solidFill>
              <a:srgbClr val="A0D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36576"/>
          <a:lstStyle/>
          <a:p>
            <a:pPr algn="ctr">
              <a:defRPr sz="800" b="1">
                <a:solidFill>
                  <a:srgbClr val="2E8B57"/>
                </a:solidFill>
              </a:defRPr>
            </a:pPr>
            <a:r>
              <a:t>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6355080"/>
            <a:ext cx="502920" cy="228600"/>
          </a:xfrm>
          <a:prstGeom prst="roundRect">
            <a:avLst/>
          </a:prstGeom>
          <a:solidFill>
            <a:srgbClr val="FFF8E8"/>
          </a:solidFill>
          <a:ln w="12700">
            <a:solidFill>
              <a:srgbClr val="E8BE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36576"/>
          <a:lstStyle/>
          <a:p>
            <a:pPr algn="ctr">
              <a:defRPr sz="800" b="1">
                <a:solidFill>
                  <a:srgbClr val="D18F24"/>
                </a:solidFill>
              </a:defRPr>
            </a:pPr>
            <a:r>
              <a:t>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6355080"/>
            <a:ext cx="502920" cy="2286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6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bIns="36576"/>
          <a:lstStyle/>
          <a:p>
            <a:pPr algn="ctr">
              <a:defRPr sz="800" b="1">
                <a:solidFill>
                  <a:srgbClr val="667085"/>
                </a:solidFill>
              </a:defRPr>
            </a:pPr>
            <a: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828C9B"/>
                </a:solidFill>
              </a:defRPr>
            </a:pPr>
            <a:r>
              <a:t>Download readiness should be rechecked before final experiment planning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