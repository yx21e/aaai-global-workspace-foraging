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B"/>
                </a:solidFill>
              </a:defRPr>
            </a:pPr>
            <a:r>
              <a:t>Candidate Data Sources: What Can We Use?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49808"/>
            <a:ext cx="113385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976"/>
                </a:solidFill>
              </a:defRPr>
            </a:pPr>
            <a:r>
              <a:t>Focus: dataset/source, URL, download readiness, and role in our project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43000"/>
          <a:ext cx="11201400" cy="5102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65960"/>
                <a:gridCol w="1965960"/>
                <a:gridCol w="4709160"/>
                <a:gridCol w="731520"/>
              </a:tblGrid>
              <a:tr h="850392">
                <a:tc>
                  <a:txBody>
                    <a:bodyPr/>
                    <a:lstStyle/>
                    <a:p>
                      <a:pPr algn="l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 marL="36576" marR="36576" marT="22860" marB="22860" anchor="ctr">
                    <a:solidFill>
                      <a:srgbClr val="1F30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URL</a:t>
                      </a:r>
                    </a:p>
                  </a:txBody>
                  <a:tcPr marL="36576" marR="36576" marT="22860" marB="22860" anchor="ctr">
                    <a:solidFill>
                      <a:srgbClr val="1F30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Download readiness</a:t>
                      </a:r>
                    </a:p>
                  </a:txBody>
                  <a:tcPr marL="36576" marR="36576" marT="22860" marB="22860" anchor="ctr">
                    <a:solidFill>
                      <a:srgbClr val="1F30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How we use it</a:t>
                      </a:r>
                    </a:p>
                  </a:txBody>
                  <a:tcPr marL="36576" marR="36576" marT="22860" marB="22860" anchor="ctr">
                    <a:solidFill>
                      <a:srgbClr val="1F30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4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 marL="36576" marR="36576" marT="22860" marB="22860" anchor="ctr">
                    <a:solidFill>
                      <a:srgbClr val="1F304B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Our generated workspace logs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N/A</a:t>
                      </a:r>
                    </a:p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created by our system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Created once logging is implemented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Main dataset: module outputs, scores, winner, broadcast, action, feedback, report, confidence, ablation labels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Minari MiniGrid / BabyAI trajectories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minari.farama.org</a:t>
                      </a:r>
                    </a:p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/datasets/minigrid/...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Public datasets via Minari CLI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Offline baselines; trajectory format; expert/random policy comparison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MiniGrid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minigrid.farama.org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Code ready; not a fixed dataset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Reference for grid-world observations, actions, partial observability, symbolic state format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BabyAI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github.com/mila-iqia/babyai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Code/scripts available; original repo less active, envs moved into MiniGrid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Language instruction + action trajectory reference; possible bot demonstrations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A/B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Change Blindness Database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search.bwh.harvard.edu</a:t>
                      </a:r>
                    </a:p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/new/CBDatabase.html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Public stimulus zip; final reuse terms should be checked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Visual stimuli for change-blindness / attention-report mismatch tests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0" b="0">
                          <a:solidFill>
                            <a:srgbClr val="21262D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012680" y="841248"/>
            <a:ext cx="1005840" cy="210312"/>
          </a:xfrm>
          <a:prstGeom prst="roundRect">
            <a:avLst/>
          </a:prstGeom>
          <a:solidFill>
            <a:srgbClr val="228B5B"/>
          </a:solidFill>
          <a:ln>
            <a:solidFill>
              <a:srgbClr val="22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 = first-wave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09960" y="841248"/>
            <a:ext cx="914400" cy="210312"/>
          </a:xfrm>
          <a:prstGeom prst="roundRect">
            <a:avLst/>
          </a:prstGeom>
          <a:solidFill>
            <a:srgbClr val="BE7C21"/>
          </a:solidFill>
          <a:ln>
            <a:solidFill>
              <a:srgbClr val="BE7C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B = extension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967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28C9B"/>
                </a:solidFill>
              </a:defRPr>
            </a:pPr>
            <a:r>
              <a:t>Data candidate briefing | Multi-agent global workspace dissociation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B"/>
                </a:solidFill>
              </a:defRPr>
            </a:pPr>
            <a:r>
              <a:t>External Multimodal / Embodiment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49808"/>
            <a:ext cx="113385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976"/>
                </a:solidFill>
              </a:defRPr>
            </a:pPr>
            <a:r>
              <a:t>Use these only when they map to a specific marker or extension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43000"/>
          <a:ext cx="112014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57400"/>
                <a:gridCol w="2240280"/>
                <a:gridCol w="4389120"/>
                <a:gridCol w="685800"/>
              </a:tblGrid>
              <a:tr h="72390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 marL="36576" marR="36576" marT="22860" marB="22860" anchor="ctr">
                    <a:solidFill>
                      <a:srgbClr val="1F30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URL</a:t>
                      </a:r>
                    </a:p>
                  </a:txBody>
                  <a:tcPr marL="36576" marR="36576" marT="22860" marB="22860" anchor="ctr">
                    <a:solidFill>
                      <a:srgbClr val="1F30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Download readiness</a:t>
                      </a:r>
                    </a:p>
                  </a:txBody>
                  <a:tcPr marL="36576" marR="36576" marT="22860" marB="22860" anchor="ctr">
                    <a:solidFill>
                      <a:srgbClr val="1F30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How we use it</a:t>
                      </a:r>
                    </a:p>
                  </a:txBody>
                  <a:tcPr marL="36576" marR="36576" marT="22860" marB="22860" anchor="ctr">
                    <a:solidFill>
                      <a:srgbClr val="1F304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 marL="36576" marR="36576" marT="22860" marB="22860" anchor="ctr">
                    <a:solidFill>
                      <a:srgbClr val="1F304B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GRID audiovisual speech corpus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zenodo.org/records/3625687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Download-ready on Zenodo; CC-BY 4.0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Clean audio-video-transcript alignment for controlled cross-modal integration experiments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AVSpeech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looking-to-listen.github.io</a:t>
                      </a:r>
                    </a:p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/avspeech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Metadata available; actual videos depend on YouTube availability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Large-scale noisy audiovisual speech extension; robust multimodal integration tests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B/C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VGG Lip Reading datasets</a:t>
                      </a:r>
                    </a:p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LRW / LRS2 / LRS3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robots.ox.ac.uk/~vgg</a:t>
                      </a:r>
                    </a:p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/data/lip_reading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Academic/research use; LRW requires BBC data-sharing agreement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Lip-reading and visual-vs-audio speech mismatch extension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McGurk Illusion Dataset / MID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biorxiv.org/content</a:t>
                      </a:r>
                    </a:p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10.64898/2026.06.09.731046v1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New 2026 preprint; verify actual data download path before relying on it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Direct candidate for McGurk-style audiovisual integration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marL="36576" marR="36576" marT="22860" marB="22860" anchor="ctr">
                    <a:solidFill>
                      <a:srgbClr val="F6F8FB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SoundSpaces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soundspaces.org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Platform public; scene assets may have additional license/access terms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Future 3D audio-visual embodiment; not needed for first 2D prototype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21262D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marL="36576" marR="36576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5623560"/>
            <a:ext cx="11201400" cy="658368"/>
          </a:xfrm>
          <a:prstGeom prst="roundRect">
            <a:avLst/>
          </a:prstGeom>
          <a:solidFill>
            <a:srgbClr val="EEF6FF"/>
          </a:solidFill>
          <a:ln>
            <a:solidFill>
              <a:srgbClr val="B1C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/>
          <a:lstStyle/>
          <a:p>
            <a:pPr algn="ctr">
              <a:defRPr sz="1300" b="1">
                <a:solidFill>
                  <a:srgbClr val="1F304B"/>
                </a:solidFill>
              </a:defRPr>
            </a:pPr>
            <a:r>
              <a:t>Recommendation: start with our own timestamp-level workspace logs + Minari/MiniGrid/BabyAI references. External datasets are useful only when they directly support a marker: change blindness, confabulation, or cross-modal integration.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9672"/>
            <a:ext cx="11430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28C9B"/>
                </a:solidFill>
              </a:defRPr>
            </a:pPr>
            <a:r>
              <a:t>Data candidate briefing | Multi-agent global workspace dissociation 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