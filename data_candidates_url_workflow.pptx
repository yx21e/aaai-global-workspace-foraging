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37744"/>
            <a:ext cx="11475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2D44"/>
                </a:solidFill>
              </a:defRPr>
            </a:pPr>
            <a:r>
              <a:t>URL-Backed Data Candidates: Core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292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5C6776"/>
                </a:solidFill>
              </a:defRPr>
            </a:pPr>
            <a:r>
              <a:t>Use these to align the 2D task, baseline trajectories, and attention/report experiments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33856"/>
          <a:ext cx="11567159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108960"/>
                <a:gridCol w="2331720"/>
                <a:gridCol w="3977639"/>
              </a:tblGrid>
              <a:tr h="978408">
                <a:tc>
                  <a:txBody>
                    <a:bodyPr/>
                    <a:lstStyle/>
                    <a:p>
                      <a:pPr algn="l">
                        <a:defRPr sz="855" b="1">
                          <a:solidFill>
                            <a:srgbClr val="FFFFFF"/>
                          </a:solidFill>
                        </a:defRPr>
                      </a:pPr>
                      <a:r>
                        <a:t>Data source</a:t>
                      </a:r>
                    </a:p>
                  </a:txBody>
                  <a:tcPr marL="41148" marR="41148" marT="22860" marB="22860" anchor="ctr"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5" b="1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 marL="41148" marR="41148" marT="22860" marB="22860" anchor="ctr"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5" b="1">
                          <a:solidFill>
                            <a:srgbClr val="FFFFFF"/>
                          </a:solidFill>
                        </a:defRPr>
                      </a:pPr>
                      <a:r>
                        <a:t>Workflow entry point</a:t>
                      </a:r>
                    </a:p>
                  </a:txBody>
                  <a:tcPr marL="41148" marR="41148" marT="22860" marB="22860" anchor="ctr"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5" b="1">
                          <a:solidFill>
                            <a:srgbClr val="FFFFFF"/>
                          </a:solidFill>
                        </a:defRPr>
                      </a:pPr>
                      <a:r>
                        <a:t>What we can use it for</a:t>
                      </a:r>
                    </a:p>
                  </a:txBody>
                  <a:tcPr marL="41148" marR="41148" marT="22860" marB="22860" anchor="ctr">
                    <a:solidFill>
                      <a:srgbClr val="1D2D44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Minari MiniGrid / BabyAI datasets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https://minari.farama.org/</a:t>
                      </a:r>
                    </a:p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https://minari.farama.org/datasets/minigrid/BabyAI-Pickup/optimal-v0/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Offline trajectory reference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Observation-action-reward trajectories; expert/random baselines; compare our workspace agent against standard policy traces.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MiniGrid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https://minigrid.farama.org/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2D task/state/action reference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Coordinate with the environment team on observation format, actions, partial observability, and intervention points.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BabyAI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https://github.com/mila-iqia/babyai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Language instruction + trajectory reference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Use instruction-following tasks as a template for language reports, task commands, and action-conditioned traces.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Change Blindness Database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https://search.bwh.harvard.edu/new/CBDatabase.html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Visual attention/report tests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25" b="0">
                          <a:solidFill>
                            <a:srgbClr val="20262E"/>
                          </a:solidFill>
                        </a:defRPr>
                      </a:pPr>
                      <a:r>
                        <a:t>Stimuli for change-blindness-like cases: visual change exists, but report may omit it; good for attention gate experiments.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6199632"/>
            <a:ext cx="11201400" cy="320040"/>
          </a:xfrm>
          <a:prstGeom prst="roundRect">
            <a:avLst/>
          </a:prstGeom>
          <a:solidFill>
            <a:srgbClr val="EEF6FF"/>
          </a:solidFill>
          <a:ln>
            <a:solidFill>
              <a:srgbClr val="B1C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/>
          <a:lstStyle/>
          <a:p>
            <a:pPr algn="ctr">
              <a:defRPr sz="1050" b="1">
                <a:solidFill>
                  <a:srgbClr val="1D2D44"/>
                </a:solidFill>
              </a:defRPr>
            </a:pPr>
            <a:r>
              <a:t>Core use: first define which workflow stage each source supports; avoid downloading datasets that do not map to a dissociation marker.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967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48E9C"/>
                </a:solidFill>
              </a:defRPr>
            </a:pPr>
            <a:r>
              <a:t>Only URL-backed candidates are listed | Data role in workflow, not system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37744"/>
            <a:ext cx="11475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2D44"/>
                </a:solidFill>
              </a:defRPr>
            </a:pPr>
            <a:r>
              <a:t>URL-Backed Data Candidates: Multimodal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292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5C6776"/>
                </a:solidFill>
              </a:defRPr>
            </a:pPr>
            <a:r>
              <a:t>Use these after the first workflow is stable, especially for audio-visual or McGurk-style tests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6716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154680"/>
                <a:gridCol w="2331720"/>
                <a:gridCol w="4023360"/>
              </a:tblGrid>
              <a:tr h="845820">
                <a:tc>
                  <a:txBody>
                    <a:bodyPr/>
                    <a:lstStyle/>
                    <a:p>
                      <a:pPr algn="l">
                        <a:defRPr sz="815" b="1">
                          <a:solidFill>
                            <a:srgbClr val="FFFFFF"/>
                          </a:solidFill>
                        </a:defRPr>
                      </a:pPr>
                      <a:r>
                        <a:t>Data source</a:t>
                      </a:r>
                    </a:p>
                  </a:txBody>
                  <a:tcPr marL="41148" marR="41148" marT="22860" marB="22860" anchor="ctr"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5" b="1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 marL="41148" marR="41148" marT="22860" marB="22860" anchor="ctr"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5" b="1">
                          <a:solidFill>
                            <a:srgbClr val="FFFFFF"/>
                          </a:solidFill>
                        </a:defRPr>
                      </a:pPr>
                      <a:r>
                        <a:t>Workflow entry point</a:t>
                      </a:r>
                    </a:p>
                  </a:txBody>
                  <a:tcPr marL="41148" marR="41148" marT="22860" marB="22860" anchor="ctr"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5" b="1">
                          <a:solidFill>
                            <a:srgbClr val="FFFFFF"/>
                          </a:solidFill>
                        </a:defRPr>
                      </a:pPr>
                      <a:r>
                        <a:t>What we can use it for</a:t>
                      </a:r>
                    </a:p>
                  </a:txBody>
                  <a:tcPr marL="41148" marR="41148" marT="22860" marB="22860" anchor="ctr">
                    <a:solidFill>
                      <a:srgbClr val="1D2D44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GRID audiovisual speech corpus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https://zenodo.org/records/3625687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Controlled audio-video-text alignment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Clean paired speech stimuli for cross-modal integration; easy starting point for audio vs visual report mismatch.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AVSpeech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https://looking-to-listen.github.io/avspeech/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Large-scale real-world audio-video speech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Stress-test multimodal integration under noisy real-world conditions; useful after controlled GRID-style tests.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VGG Lip Reading datasets</a:t>
                      </a:r>
                    </a:p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LRW / LRS2 / LRS3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https://www.robots.ox.ac.uk/~vgg/data/lip_reading/</a:t>
                      </a:r>
                    </a:p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https://www.robots.ox.ac.uk/~vgg/data/lip_reading/lrw1.html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Visual speech / lip-reading extension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Create visual-only, audio-only, and conflicting audio-visual inputs for report-vs-perception mismatch studies.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McGurk Illusion Dataset / MID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https://www.biorxiv.org/content/10.64898/2026.06.09.731046v1.full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Direct McGurk-style integration candidate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Track as a direct candidate for audio-visual conflict where the reported percept differs from either raw modality. Verify data access path before use.</a:t>
                      </a:r>
                    </a:p>
                  </a:txBody>
                  <a:tcPr marL="41148" marR="41148" marT="22860" marB="22860" anchor="ctr">
                    <a:solidFill>
                      <a:srgbClr val="F6F8FB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SoundSpaces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https://soundspaces.org/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Future embodied audio-visual navigation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5" b="0">
                          <a:solidFill>
                            <a:srgbClr val="20262E"/>
                          </a:solidFill>
                        </a:defRPr>
                      </a:pPr>
                      <a:r>
                        <a:t>Only for later 3D extension: spatial audio + navigation; not necessary for first 2D workflow.</a:t>
                      </a:r>
                    </a:p>
                  </a:txBody>
                  <a:tcPr marL="41148" marR="4114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6199632"/>
            <a:ext cx="11201400" cy="320040"/>
          </a:xfrm>
          <a:prstGeom prst="roundRect">
            <a:avLst/>
          </a:prstGeom>
          <a:solidFill>
            <a:srgbClr val="EEF6FF"/>
          </a:solidFill>
          <a:ln>
            <a:solidFill>
              <a:srgbClr val="B1C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/>
          <a:lstStyle/>
          <a:p>
            <a:pPr algn="ctr">
              <a:defRPr sz="1050" b="1">
                <a:solidFill>
                  <a:srgbClr val="1D2D44"/>
                </a:solidFill>
              </a:defRPr>
            </a:pPr>
            <a:r>
              <a:t>Recommended order: Minari/MiniGrid/BabyAI for workflow alignment, CB Database for attention/report mismatch, GRID before larger AV datasets.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9672"/>
            <a:ext cx="11384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48E9C"/>
                </a:solidFill>
              </a:defRPr>
            </a:pPr>
            <a:r>
              <a:t>Only URL-backed candidates are listed | Data role in workflow, not system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